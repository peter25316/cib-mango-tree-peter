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6"/>
  </p:sldMasterIdLst>
  <p:notesMasterIdLst>
    <p:notesMasterId r:id="rId7"/>
  </p:notesMasterIdLst>
  <p:sldIdLst>
    <p:sldId id="256" r:id="rId8"/>
    <p:sldId id="257" r:id="rId9"/>
    <p:sldId id="258" r:id="rId10"/>
  </p:sldIdLst>
  <p:sldSz cy="13716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5" name="Ben Sando"/>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B0597A8-FFCC-46CA-AE32-1D73EF9ED9E4}">
  <a:tblStyle styleId="{DB0597A8-FFCC-46CA-AE32-1D73EF9ED9E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10" Type="http://schemas.openxmlformats.org/officeDocument/2006/relationships/slide" Target="slides/slide3.xml"/><Relationship Id="rId9" Type="http://schemas.openxmlformats.org/officeDocument/2006/relationships/slide" Target="slides/slide2.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1-11T02:19:30.701">
    <p:pos x="568" y="326"/>
    <p:text>See this page on the website for explanation on what these columns are https://cibmangotree.org/pages/data-preparation/data-preparation.html</p:text>
  </p:cm>
  <p:cm authorId="0" idx="2" dt="2025-11-11T02:26:18.946">
    <p:pos x="405" y="1820"/>
    <p:text>In this chart, the moments of bursts are marked by the shading. We could either use the same color shade, or different color shades to indicate the gini coefficient value for posting during this burst. A red color would indicate a high gini score - which would mean that only a few posters contributed to that burst. A green color would indicate a low gini score - meaning the burst was the result of many accounts, and therefore less suspicious.</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5-11-11T02:38:37.195">
    <p:pos x="1380" y="2536"/>
    <p:text>This shows which burst was selected</p:text>
  </p:cm>
  <p:cm authorId="0" idx="4" dt="2025-11-11T02:36:13.802">
    <p:pos x="333" y="5300"/>
    <p:text>If they click this, they will go back to the default view (where no details of any burst are shown)</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5-11-11T03:12:33.972">
    <p:pos x="423" y="6942"/>
    <p:text>This table could continue for as many posts as belonged to this account</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86300" y="685800"/>
            <a:ext cx="228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286300"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a23cb32253_0_11:notes"/>
          <p:cNvSpPr/>
          <p:nvPr>
            <p:ph idx="2" type="sldImg"/>
          </p:nvPr>
        </p:nvSpPr>
        <p:spPr>
          <a:xfrm>
            <a:off x="2286300"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a23cb3225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WHAT YOU SEE IF YOU CLICK ON A BURST IN THE GRAPH</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23cb32253_0_50:notes"/>
          <p:cNvSpPr/>
          <p:nvPr>
            <p:ph idx="2" type="sldImg"/>
          </p:nvPr>
        </p:nvSpPr>
        <p:spPr>
          <a:xfrm>
            <a:off x="2286300"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a23cb3225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WHAT YOU SEE IF YOU CLICK ON OF THE ACCOUNTS LISTED UNDER “KEY BURST CONTRIBUTORS”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1985533"/>
            <a:ext cx="8520600" cy="547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7557667"/>
            <a:ext cx="8520600" cy="2113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12435245"/>
            <a:ext cx="548700" cy="1049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5735600"/>
            <a:ext cx="8520600" cy="2244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12435245"/>
            <a:ext cx="548700" cy="1049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1186733"/>
            <a:ext cx="8520600" cy="1527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3073267"/>
            <a:ext cx="8520600" cy="9110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12435245"/>
            <a:ext cx="548700" cy="1049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1186733"/>
            <a:ext cx="8520600" cy="1527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3073267"/>
            <a:ext cx="3999900" cy="9110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3073267"/>
            <a:ext cx="3999900" cy="9110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12435245"/>
            <a:ext cx="548700" cy="1049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1186733"/>
            <a:ext cx="8520600" cy="1527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12435245"/>
            <a:ext cx="548700" cy="1049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1481600"/>
            <a:ext cx="2808000" cy="20151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3705600"/>
            <a:ext cx="2808000" cy="8478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12435245"/>
            <a:ext cx="548700" cy="1049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1200400"/>
            <a:ext cx="6367800" cy="109089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12435245"/>
            <a:ext cx="548700" cy="1049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333"/>
            <a:ext cx="4572000" cy="13716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3288467"/>
            <a:ext cx="4045200" cy="3952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7474867"/>
            <a:ext cx="4045200" cy="3293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1930867"/>
            <a:ext cx="3837000" cy="98535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12435245"/>
            <a:ext cx="548700" cy="1049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11281533"/>
            <a:ext cx="5998800" cy="1613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12435245"/>
            <a:ext cx="548700" cy="1049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2949667"/>
            <a:ext cx="8520600" cy="52359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8405933"/>
            <a:ext cx="8520600" cy="3468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12435245"/>
            <a:ext cx="548700" cy="1049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12435245"/>
            <a:ext cx="548700" cy="1049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1186733"/>
            <a:ext cx="8520600" cy="15273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3073267"/>
            <a:ext cx="8520600" cy="9110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12435245"/>
            <a:ext cx="548700" cy="1049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comments" Target="../comments/commen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comments" Target="../comments/comment3.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02375" y="518025"/>
            <a:ext cx="7285800" cy="1888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For your Streamlit dashboard, the top of the dashboard should have some file upload button and then the option to “map” columns that the program will analyze. I believe the columns that must be mapped are “unique userID”, “post content”, “timestamp”, and “unique post number”. We will not need this functionality when we integrate the dashboard into our app (since we have our own) - but it will be essential when we are testing your dashboard ourselves, so we can upload our own data. </a:t>
            </a:r>
            <a:endParaRPr sz="1500">
              <a:solidFill>
                <a:schemeClr val="dk2"/>
              </a:solidFill>
            </a:endParaRPr>
          </a:p>
        </p:txBody>
      </p:sp>
      <p:pic>
        <p:nvPicPr>
          <p:cNvPr id="55" name="Google Shape;55;p13" title="hourly_posts.png"/>
          <p:cNvPicPr preferRelativeResize="0"/>
          <p:nvPr/>
        </p:nvPicPr>
        <p:blipFill>
          <a:blip r:embed="rId4">
            <a:alphaModFix/>
          </a:blip>
          <a:stretch>
            <a:fillRect/>
          </a:stretch>
        </p:blipFill>
        <p:spPr>
          <a:xfrm>
            <a:off x="643401" y="2890775"/>
            <a:ext cx="8062775" cy="5759150"/>
          </a:xfrm>
          <a:prstGeom prst="rect">
            <a:avLst/>
          </a:prstGeom>
          <a:noFill/>
          <a:ln>
            <a:noFill/>
          </a:ln>
        </p:spPr>
      </p:pic>
      <p:sp>
        <p:nvSpPr>
          <p:cNvPr id="56" name="Google Shape;56;p13"/>
          <p:cNvSpPr txBox="1"/>
          <p:nvPr/>
        </p:nvSpPr>
        <p:spPr>
          <a:xfrm>
            <a:off x="818825" y="2707100"/>
            <a:ext cx="2489700" cy="70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Burst Detection Test</a:t>
            </a:r>
            <a:endParaRPr sz="1800">
              <a:solidFill>
                <a:schemeClr val="dk2"/>
              </a:solidFill>
            </a:endParaRPr>
          </a:p>
        </p:txBody>
      </p:sp>
      <p:sp>
        <p:nvSpPr>
          <p:cNvPr id="57" name="Google Shape;57;p13"/>
          <p:cNvSpPr/>
          <p:nvPr/>
        </p:nvSpPr>
        <p:spPr>
          <a:xfrm>
            <a:off x="4060675" y="4027225"/>
            <a:ext cx="317400" cy="3726600"/>
          </a:xfrm>
          <a:prstGeom prst="rect">
            <a:avLst/>
          </a:prstGeom>
          <a:solidFill>
            <a:srgbClr val="FFFF00">
              <a:alpha val="395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 name="Google Shape;58;p13"/>
          <p:cNvSpPr/>
          <p:nvPr/>
        </p:nvSpPr>
        <p:spPr>
          <a:xfrm>
            <a:off x="2191075" y="4027225"/>
            <a:ext cx="317400" cy="3726600"/>
          </a:xfrm>
          <a:prstGeom prst="rect">
            <a:avLst/>
          </a:prstGeom>
          <a:solidFill>
            <a:srgbClr val="FFFF00">
              <a:alpha val="395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 name="Google Shape;59;p13"/>
          <p:cNvSpPr/>
          <p:nvPr/>
        </p:nvSpPr>
        <p:spPr>
          <a:xfrm>
            <a:off x="6855300" y="4027225"/>
            <a:ext cx="317400" cy="3726600"/>
          </a:xfrm>
          <a:prstGeom prst="rect">
            <a:avLst/>
          </a:prstGeom>
          <a:solidFill>
            <a:srgbClr val="FFFF00">
              <a:alpha val="395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 name="Google Shape;60;p13"/>
          <p:cNvSpPr txBox="1"/>
          <p:nvPr/>
        </p:nvSpPr>
        <p:spPr>
          <a:xfrm>
            <a:off x="1499738" y="8789725"/>
            <a:ext cx="6350100" cy="93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chemeClr val="dk2"/>
                </a:solidFill>
              </a:rPr>
              <a:t>Click on a shaded burst to view </a:t>
            </a:r>
            <a:r>
              <a:rPr i="1" lang="en" sz="1800">
                <a:solidFill>
                  <a:schemeClr val="dk2"/>
                </a:solidFill>
              </a:rPr>
              <a:t>which</a:t>
            </a:r>
            <a:r>
              <a:rPr i="1" lang="en" sz="1800">
                <a:solidFill>
                  <a:schemeClr val="dk2"/>
                </a:solidFill>
              </a:rPr>
              <a:t> accounts contributed to the instance </a:t>
            </a:r>
            <a:endParaRPr i="1"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id="65" name="Google Shape;65;p14" title="hourly_posts.png"/>
          <p:cNvPicPr preferRelativeResize="0"/>
          <p:nvPr/>
        </p:nvPicPr>
        <p:blipFill>
          <a:blip r:embed="rId4">
            <a:alphaModFix/>
          </a:blip>
          <a:stretch>
            <a:fillRect/>
          </a:stretch>
        </p:blipFill>
        <p:spPr>
          <a:xfrm>
            <a:off x="643401" y="2890775"/>
            <a:ext cx="8062775" cy="5759150"/>
          </a:xfrm>
          <a:prstGeom prst="rect">
            <a:avLst/>
          </a:prstGeom>
          <a:noFill/>
          <a:ln>
            <a:noFill/>
          </a:ln>
        </p:spPr>
      </p:pic>
      <p:sp>
        <p:nvSpPr>
          <p:cNvPr id="66" name="Google Shape;66;p14"/>
          <p:cNvSpPr/>
          <p:nvPr/>
        </p:nvSpPr>
        <p:spPr>
          <a:xfrm>
            <a:off x="529175" y="8413750"/>
            <a:ext cx="1957800" cy="38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 name="Google Shape;67;p14"/>
          <p:cNvSpPr txBox="1"/>
          <p:nvPr/>
        </p:nvSpPr>
        <p:spPr>
          <a:xfrm>
            <a:off x="902375" y="518025"/>
            <a:ext cx="7285800" cy="1888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For your Streamlit dashboard, the top of the dashboard should have some file upload button and then the option to “map” columns that the program will analyze. I believe the columns that must be mapped are “unique userID”, “post content”, “timestamp”, and “unique post number”. We will not need this functionality when we integrate the dashboard into our app (since we have our own) - but it will be essential when we are testing your dashboard ourselves, so we can upload our own data. </a:t>
            </a:r>
            <a:endParaRPr sz="1500">
              <a:solidFill>
                <a:schemeClr val="dk2"/>
              </a:solidFill>
            </a:endParaRPr>
          </a:p>
        </p:txBody>
      </p:sp>
      <p:sp>
        <p:nvSpPr>
          <p:cNvPr id="68" name="Google Shape;68;p14"/>
          <p:cNvSpPr txBox="1"/>
          <p:nvPr/>
        </p:nvSpPr>
        <p:spPr>
          <a:xfrm>
            <a:off x="818825" y="2707100"/>
            <a:ext cx="2489700" cy="70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Burst Detection Test</a:t>
            </a:r>
            <a:endParaRPr sz="1800">
              <a:solidFill>
                <a:schemeClr val="dk2"/>
              </a:solidFill>
            </a:endParaRPr>
          </a:p>
        </p:txBody>
      </p:sp>
      <p:sp>
        <p:nvSpPr>
          <p:cNvPr id="69" name="Google Shape;69;p14"/>
          <p:cNvSpPr/>
          <p:nvPr/>
        </p:nvSpPr>
        <p:spPr>
          <a:xfrm>
            <a:off x="4060675" y="4027225"/>
            <a:ext cx="317400" cy="3726600"/>
          </a:xfrm>
          <a:prstGeom prst="rect">
            <a:avLst/>
          </a:prstGeom>
          <a:solidFill>
            <a:srgbClr val="FFFF00">
              <a:alpha val="395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 name="Google Shape;70;p14"/>
          <p:cNvSpPr/>
          <p:nvPr/>
        </p:nvSpPr>
        <p:spPr>
          <a:xfrm>
            <a:off x="2191075" y="4027225"/>
            <a:ext cx="317400" cy="3726600"/>
          </a:xfrm>
          <a:prstGeom prst="rect">
            <a:avLst/>
          </a:prstGeom>
          <a:solidFill>
            <a:srgbClr val="FFFF00">
              <a:alpha val="39550"/>
            </a:srgbClr>
          </a:solid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4"/>
          <p:cNvSpPr/>
          <p:nvPr/>
        </p:nvSpPr>
        <p:spPr>
          <a:xfrm>
            <a:off x="6855300" y="4027225"/>
            <a:ext cx="317400" cy="3726600"/>
          </a:xfrm>
          <a:prstGeom prst="rect">
            <a:avLst/>
          </a:prstGeom>
          <a:solidFill>
            <a:srgbClr val="FFFF00">
              <a:alpha val="395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14"/>
          <p:cNvSpPr txBox="1"/>
          <p:nvPr/>
        </p:nvSpPr>
        <p:spPr>
          <a:xfrm>
            <a:off x="1236575" y="9023025"/>
            <a:ext cx="6316500" cy="5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2"/>
                </a:solidFill>
              </a:rPr>
              <a:t>Burst Period:</a:t>
            </a:r>
            <a:r>
              <a:rPr lang="en" sz="1600">
                <a:solidFill>
                  <a:schemeClr val="dk2"/>
                </a:solidFill>
              </a:rPr>
              <a:t> 1/29/2025 6:00 - 1/29/2025 20:00</a:t>
            </a:r>
            <a:endParaRPr sz="1600">
              <a:solidFill>
                <a:schemeClr val="dk2"/>
              </a:solidFill>
            </a:endParaRPr>
          </a:p>
        </p:txBody>
      </p:sp>
      <p:sp>
        <p:nvSpPr>
          <p:cNvPr id="73" name="Google Shape;73;p14"/>
          <p:cNvSpPr/>
          <p:nvPr/>
        </p:nvSpPr>
        <p:spPr>
          <a:xfrm rot="10800000">
            <a:off x="643375" y="8476225"/>
            <a:ext cx="251400" cy="263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 name="Google Shape;74;p14"/>
          <p:cNvSpPr txBox="1"/>
          <p:nvPr/>
        </p:nvSpPr>
        <p:spPr>
          <a:xfrm>
            <a:off x="865050" y="8393361"/>
            <a:ext cx="2022000" cy="22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Return to default</a:t>
            </a:r>
            <a:endParaRPr sz="1500">
              <a:solidFill>
                <a:schemeClr val="dk2"/>
              </a:solidFill>
            </a:endParaRPr>
          </a:p>
        </p:txBody>
      </p:sp>
      <p:sp>
        <p:nvSpPr>
          <p:cNvPr id="75" name="Google Shape;75;p14"/>
          <p:cNvSpPr txBox="1"/>
          <p:nvPr/>
        </p:nvSpPr>
        <p:spPr>
          <a:xfrm>
            <a:off x="1236575" y="9356513"/>
            <a:ext cx="6316500" cy="5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2"/>
                </a:solidFill>
              </a:rPr>
              <a:t>Total posts: </a:t>
            </a:r>
            <a:r>
              <a:rPr lang="en" sz="1600">
                <a:solidFill>
                  <a:schemeClr val="dk2"/>
                </a:solidFill>
              </a:rPr>
              <a:t> 350</a:t>
            </a:r>
            <a:endParaRPr sz="1600">
              <a:solidFill>
                <a:schemeClr val="dk2"/>
              </a:solidFill>
            </a:endParaRPr>
          </a:p>
        </p:txBody>
      </p:sp>
      <p:sp>
        <p:nvSpPr>
          <p:cNvPr id="76" name="Google Shape;76;p14"/>
          <p:cNvSpPr txBox="1"/>
          <p:nvPr/>
        </p:nvSpPr>
        <p:spPr>
          <a:xfrm>
            <a:off x="902375" y="10247963"/>
            <a:ext cx="3462300" cy="22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Key burst contributors:</a:t>
            </a:r>
            <a:endParaRPr sz="1800">
              <a:solidFill>
                <a:schemeClr val="dk2"/>
              </a:solidFill>
            </a:endParaRPr>
          </a:p>
        </p:txBody>
      </p:sp>
      <p:sp>
        <p:nvSpPr>
          <p:cNvPr id="77" name="Google Shape;77;p14"/>
          <p:cNvSpPr/>
          <p:nvPr/>
        </p:nvSpPr>
        <p:spPr>
          <a:xfrm>
            <a:off x="1447075" y="11149800"/>
            <a:ext cx="4560900" cy="227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 name="Google Shape;78;p14"/>
          <p:cNvSpPr/>
          <p:nvPr/>
        </p:nvSpPr>
        <p:spPr>
          <a:xfrm>
            <a:off x="1447075" y="11510025"/>
            <a:ext cx="3370500" cy="227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4"/>
          <p:cNvSpPr/>
          <p:nvPr/>
        </p:nvSpPr>
        <p:spPr>
          <a:xfrm>
            <a:off x="1447075" y="11870250"/>
            <a:ext cx="2613600" cy="227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 name="Google Shape;80;p14"/>
          <p:cNvSpPr txBox="1"/>
          <p:nvPr/>
        </p:nvSpPr>
        <p:spPr>
          <a:xfrm>
            <a:off x="47344" y="11025782"/>
            <a:ext cx="6316500" cy="5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2"/>
                </a:solidFill>
              </a:rPr>
              <a:t>1 </a:t>
            </a:r>
            <a:r>
              <a:rPr lang="en" sz="1500">
                <a:solidFill>
                  <a:schemeClr val="dk2"/>
                </a:solidFill>
              </a:rPr>
              <a:t>frazzledjazz</a:t>
            </a:r>
            <a:endParaRPr sz="1500">
              <a:solidFill>
                <a:schemeClr val="dk2"/>
              </a:solidFill>
            </a:endParaRPr>
          </a:p>
        </p:txBody>
      </p:sp>
      <p:sp>
        <p:nvSpPr>
          <p:cNvPr id="81" name="Google Shape;81;p14"/>
          <p:cNvSpPr txBox="1"/>
          <p:nvPr/>
        </p:nvSpPr>
        <p:spPr>
          <a:xfrm>
            <a:off x="47344" y="11371801"/>
            <a:ext cx="6316500" cy="5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2"/>
                </a:solidFill>
              </a:rPr>
              <a:t>2</a:t>
            </a:r>
            <a:r>
              <a:rPr b="1" lang="en" sz="1600">
                <a:solidFill>
                  <a:schemeClr val="dk2"/>
                </a:solidFill>
              </a:rPr>
              <a:t> </a:t>
            </a:r>
            <a:r>
              <a:rPr lang="en" sz="1500">
                <a:solidFill>
                  <a:schemeClr val="dk2"/>
                </a:solidFill>
              </a:rPr>
              <a:t>monkeymix</a:t>
            </a:r>
            <a:endParaRPr sz="1500">
              <a:solidFill>
                <a:schemeClr val="dk2"/>
              </a:solidFill>
            </a:endParaRPr>
          </a:p>
        </p:txBody>
      </p:sp>
      <p:sp>
        <p:nvSpPr>
          <p:cNvPr id="82" name="Google Shape;82;p14"/>
          <p:cNvSpPr txBox="1"/>
          <p:nvPr/>
        </p:nvSpPr>
        <p:spPr>
          <a:xfrm>
            <a:off x="47344" y="11737734"/>
            <a:ext cx="6316500" cy="5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2"/>
                </a:solidFill>
              </a:rPr>
              <a:t>3</a:t>
            </a:r>
            <a:r>
              <a:rPr b="1" lang="en" sz="1600">
                <a:solidFill>
                  <a:schemeClr val="dk2"/>
                </a:solidFill>
              </a:rPr>
              <a:t> </a:t>
            </a:r>
            <a:r>
              <a:rPr lang="en" sz="1500">
                <a:solidFill>
                  <a:schemeClr val="dk2"/>
                </a:solidFill>
              </a:rPr>
              <a:t>joneser</a:t>
            </a:r>
            <a:endParaRPr sz="1500">
              <a:solidFill>
                <a:schemeClr val="dk2"/>
              </a:solidFill>
            </a:endParaRPr>
          </a:p>
        </p:txBody>
      </p:sp>
      <p:cxnSp>
        <p:nvCxnSpPr>
          <p:cNvPr id="83" name="Google Shape;83;p14"/>
          <p:cNvCxnSpPr/>
          <p:nvPr/>
        </p:nvCxnSpPr>
        <p:spPr>
          <a:xfrm>
            <a:off x="1483700" y="10898800"/>
            <a:ext cx="6429300" cy="18300"/>
          </a:xfrm>
          <a:prstGeom prst="straightConnector1">
            <a:avLst/>
          </a:prstGeom>
          <a:noFill/>
          <a:ln cap="flat" cmpd="sng" w="9525">
            <a:solidFill>
              <a:schemeClr val="dk2"/>
            </a:solidFill>
            <a:prstDash val="solid"/>
            <a:round/>
            <a:headEnd len="med" w="med" type="none"/>
            <a:tailEnd len="med" w="med" type="none"/>
          </a:ln>
        </p:spPr>
      </p:cxnSp>
      <p:cxnSp>
        <p:nvCxnSpPr>
          <p:cNvPr id="84" name="Google Shape;84;p14"/>
          <p:cNvCxnSpPr/>
          <p:nvPr/>
        </p:nvCxnSpPr>
        <p:spPr>
          <a:xfrm rot="10800000">
            <a:off x="1483700" y="10737175"/>
            <a:ext cx="0" cy="285300"/>
          </a:xfrm>
          <a:prstGeom prst="straightConnector1">
            <a:avLst/>
          </a:prstGeom>
          <a:noFill/>
          <a:ln cap="flat" cmpd="sng" w="9525">
            <a:solidFill>
              <a:schemeClr val="dk2"/>
            </a:solidFill>
            <a:prstDash val="solid"/>
            <a:round/>
            <a:headEnd len="med" w="med" type="none"/>
            <a:tailEnd len="med" w="med" type="none"/>
          </a:ln>
        </p:spPr>
      </p:cxnSp>
      <p:cxnSp>
        <p:nvCxnSpPr>
          <p:cNvPr id="85" name="Google Shape;85;p14"/>
          <p:cNvCxnSpPr/>
          <p:nvPr/>
        </p:nvCxnSpPr>
        <p:spPr>
          <a:xfrm rot="10800000">
            <a:off x="3771650" y="10737163"/>
            <a:ext cx="0" cy="285300"/>
          </a:xfrm>
          <a:prstGeom prst="straightConnector1">
            <a:avLst/>
          </a:prstGeom>
          <a:noFill/>
          <a:ln cap="flat" cmpd="sng" w="9525">
            <a:solidFill>
              <a:schemeClr val="dk2"/>
            </a:solidFill>
            <a:prstDash val="solid"/>
            <a:round/>
            <a:headEnd len="med" w="med" type="none"/>
            <a:tailEnd len="med" w="med" type="none"/>
          </a:ln>
        </p:spPr>
      </p:cxnSp>
      <p:cxnSp>
        <p:nvCxnSpPr>
          <p:cNvPr id="86" name="Google Shape;86;p14"/>
          <p:cNvCxnSpPr/>
          <p:nvPr/>
        </p:nvCxnSpPr>
        <p:spPr>
          <a:xfrm rot="10800000">
            <a:off x="6096000" y="10741032"/>
            <a:ext cx="0" cy="285300"/>
          </a:xfrm>
          <a:prstGeom prst="straightConnector1">
            <a:avLst/>
          </a:prstGeom>
          <a:noFill/>
          <a:ln cap="flat" cmpd="sng" w="9525">
            <a:solidFill>
              <a:schemeClr val="dk2"/>
            </a:solidFill>
            <a:prstDash val="solid"/>
            <a:round/>
            <a:headEnd len="med" w="med" type="none"/>
            <a:tailEnd len="med" w="med" type="none"/>
          </a:ln>
        </p:spPr>
      </p:cxnSp>
      <p:sp>
        <p:nvSpPr>
          <p:cNvPr id="87" name="Google Shape;87;p14"/>
          <p:cNvSpPr txBox="1"/>
          <p:nvPr/>
        </p:nvSpPr>
        <p:spPr>
          <a:xfrm>
            <a:off x="3771650" y="10501300"/>
            <a:ext cx="703800" cy="14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10</a:t>
            </a:r>
            <a:endParaRPr sz="1500">
              <a:solidFill>
                <a:schemeClr val="dk2"/>
              </a:solidFill>
            </a:endParaRPr>
          </a:p>
        </p:txBody>
      </p:sp>
      <p:sp>
        <p:nvSpPr>
          <p:cNvPr id="88" name="Google Shape;88;p14"/>
          <p:cNvSpPr txBox="1"/>
          <p:nvPr/>
        </p:nvSpPr>
        <p:spPr>
          <a:xfrm>
            <a:off x="6077674" y="10501300"/>
            <a:ext cx="703800" cy="28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20</a:t>
            </a:r>
            <a:endParaRPr sz="1500">
              <a:solidFill>
                <a:schemeClr val="dk2"/>
              </a:solidFill>
            </a:endParaRPr>
          </a:p>
        </p:txBody>
      </p:sp>
      <p:sp>
        <p:nvSpPr>
          <p:cNvPr id="89" name="Google Shape;89;p14"/>
          <p:cNvSpPr txBox="1"/>
          <p:nvPr/>
        </p:nvSpPr>
        <p:spPr>
          <a:xfrm>
            <a:off x="6003000" y="11069454"/>
            <a:ext cx="2022000" cy="14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5% of all posts</a:t>
            </a:r>
            <a:endParaRPr sz="1200">
              <a:solidFill>
                <a:schemeClr val="dk2"/>
              </a:solidFill>
            </a:endParaRPr>
          </a:p>
        </p:txBody>
      </p:sp>
      <p:sp>
        <p:nvSpPr>
          <p:cNvPr id="90" name="Google Shape;90;p14"/>
          <p:cNvSpPr txBox="1"/>
          <p:nvPr/>
        </p:nvSpPr>
        <p:spPr>
          <a:xfrm>
            <a:off x="4866829" y="11439346"/>
            <a:ext cx="2022000" cy="14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4% of all posts</a:t>
            </a:r>
            <a:endParaRPr sz="1200">
              <a:solidFill>
                <a:schemeClr val="dk2"/>
              </a:solidFill>
            </a:endParaRPr>
          </a:p>
        </p:txBody>
      </p:sp>
      <p:sp>
        <p:nvSpPr>
          <p:cNvPr id="91" name="Google Shape;91;p14"/>
          <p:cNvSpPr txBox="1"/>
          <p:nvPr/>
        </p:nvSpPr>
        <p:spPr>
          <a:xfrm>
            <a:off x="4074004" y="11802211"/>
            <a:ext cx="2022000" cy="14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3.5</a:t>
            </a:r>
            <a:r>
              <a:rPr lang="en" sz="1200">
                <a:solidFill>
                  <a:schemeClr val="dk2"/>
                </a:solidFill>
              </a:rPr>
              <a:t>% of all posts</a:t>
            </a:r>
            <a:endParaRPr sz="1200">
              <a:solidFill>
                <a:schemeClr val="dk2"/>
              </a:solidFill>
            </a:endParaRPr>
          </a:p>
        </p:txBody>
      </p:sp>
      <p:sp>
        <p:nvSpPr>
          <p:cNvPr id="92" name="Google Shape;92;p14"/>
          <p:cNvSpPr txBox="1"/>
          <p:nvPr/>
        </p:nvSpPr>
        <p:spPr>
          <a:xfrm>
            <a:off x="1656775" y="12012475"/>
            <a:ext cx="2721300" cy="12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i="1" lang="en" sz="1500">
                <a:solidFill>
                  <a:schemeClr val="dk2"/>
                </a:solidFill>
              </a:rPr>
              <a:t>These bars could keep going for the top 50 </a:t>
            </a:r>
            <a:r>
              <a:rPr i="1" lang="en" sz="1500">
                <a:solidFill>
                  <a:schemeClr val="dk2"/>
                </a:solidFill>
              </a:rPr>
              <a:t>accounts</a:t>
            </a:r>
            <a:r>
              <a:rPr i="1" lang="en" sz="1500">
                <a:solidFill>
                  <a:schemeClr val="dk2"/>
                </a:solidFill>
              </a:rPr>
              <a:t>? </a:t>
            </a:r>
            <a:endParaRPr i="1" sz="15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15" title="hourly_posts.png"/>
          <p:cNvPicPr preferRelativeResize="0"/>
          <p:nvPr/>
        </p:nvPicPr>
        <p:blipFill>
          <a:blip r:embed="rId4">
            <a:alphaModFix/>
          </a:blip>
          <a:stretch>
            <a:fillRect/>
          </a:stretch>
        </p:blipFill>
        <p:spPr>
          <a:xfrm>
            <a:off x="643401" y="2890775"/>
            <a:ext cx="8062775" cy="5759150"/>
          </a:xfrm>
          <a:prstGeom prst="rect">
            <a:avLst/>
          </a:prstGeom>
          <a:noFill/>
          <a:ln>
            <a:noFill/>
          </a:ln>
        </p:spPr>
      </p:pic>
      <p:sp>
        <p:nvSpPr>
          <p:cNvPr id="98" name="Google Shape;98;p15"/>
          <p:cNvSpPr/>
          <p:nvPr/>
        </p:nvSpPr>
        <p:spPr>
          <a:xfrm>
            <a:off x="529175" y="8413750"/>
            <a:ext cx="1957800" cy="38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5"/>
          <p:cNvSpPr txBox="1"/>
          <p:nvPr/>
        </p:nvSpPr>
        <p:spPr>
          <a:xfrm>
            <a:off x="902375" y="518025"/>
            <a:ext cx="7285800" cy="1888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For your Streamlit dashboard, the top of the dashboard should have some file upload button and then the option to “map” columns that the program will analyze. I believe the columns that must be mapped are “unique userID”, “post content”, “timestamp”, and “unique post number”. We will not need this functionality when we integrate the dashboard into our app (since we have our own) - but it will be essential when we are testing your dashboard ourselves, so we can upload our own data. </a:t>
            </a:r>
            <a:endParaRPr sz="1500">
              <a:solidFill>
                <a:schemeClr val="dk2"/>
              </a:solidFill>
            </a:endParaRPr>
          </a:p>
        </p:txBody>
      </p:sp>
      <p:sp>
        <p:nvSpPr>
          <p:cNvPr id="100" name="Google Shape;100;p15"/>
          <p:cNvSpPr txBox="1"/>
          <p:nvPr/>
        </p:nvSpPr>
        <p:spPr>
          <a:xfrm>
            <a:off x="818825" y="2707100"/>
            <a:ext cx="2489700" cy="70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Burst Detection Test</a:t>
            </a:r>
            <a:endParaRPr sz="1800">
              <a:solidFill>
                <a:schemeClr val="dk2"/>
              </a:solidFill>
            </a:endParaRPr>
          </a:p>
        </p:txBody>
      </p:sp>
      <p:sp>
        <p:nvSpPr>
          <p:cNvPr id="101" name="Google Shape;101;p15"/>
          <p:cNvSpPr/>
          <p:nvPr/>
        </p:nvSpPr>
        <p:spPr>
          <a:xfrm>
            <a:off x="4060675" y="4027225"/>
            <a:ext cx="317400" cy="3726600"/>
          </a:xfrm>
          <a:prstGeom prst="rect">
            <a:avLst/>
          </a:prstGeom>
          <a:solidFill>
            <a:srgbClr val="FFFF00">
              <a:alpha val="395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5"/>
          <p:cNvSpPr/>
          <p:nvPr/>
        </p:nvSpPr>
        <p:spPr>
          <a:xfrm>
            <a:off x="2191075" y="4027225"/>
            <a:ext cx="317400" cy="3726600"/>
          </a:xfrm>
          <a:prstGeom prst="rect">
            <a:avLst/>
          </a:prstGeom>
          <a:solidFill>
            <a:srgbClr val="FFFF00">
              <a:alpha val="39550"/>
            </a:srgbClr>
          </a:solid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5"/>
          <p:cNvSpPr/>
          <p:nvPr/>
        </p:nvSpPr>
        <p:spPr>
          <a:xfrm>
            <a:off x="6855300" y="4027225"/>
            <a:ext cx="317400" cy="3726600"/>
          </a:xfrm>
          <a:prstGeom prst="rect">
            <a:avLst/>
          </a:prstGeom>
          <a:solidFill>
            <a:srgbClr val="FFFF00">
              <a:alpha val="395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 name="Google Shape;104;p15"/>
          <p:cNvSpPr txBox="1"/>
          <p:nvPr/>
        </p:nvSpPr>
        <p:spPr>
          <a:xfrm>
            <a:off x="1236575" y="8958449"/>
            <a:ext cx="6316500" cy="5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2"/>
                </a:solidFill>
              </a:rPr>
              <a:t>Burst Period:</a:t>
            </a:r>
            <a:r>
              <a:rPr lang="en" sz="1600">
                <a:solidFill>
                  <a:schemeClr val="dk2"/>
                </a:solidFill>
              </a:rPr>
              <a:t> 1/29/2025 6:00 - 1/29/2025 20:00</a:t>
            </a:r>
            <a:endParaRPr sz="1600">
              <a:solidFill>
                <a:schemeClr val="dk2"/>
              </a:solidFill>
            </a:endParaRPr>
          </a:p>
        </p:txBody>
      </p:sp>
      <p:sp>
        <p:nvSpPr>
          <p:cNvPr id="105" name="Google Shape;105;p15"/>
          <p:cNvSpPr/>
          <p:nvPr/>
        </p:nvSpPr>
        <p:spPr>
          <a:xfrm rot="10800000">
            <a:off x="643375" y="8476225"/>
            <a:ext cx="251400" cy="263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15"/>
          <p:cNvSpPr txBox="1"/>
          <p:nvPr/>
        </p:nvSpPr>
        <p:spPr>
          <a:xfrm>
            <a:off x="865050" y="8393361"/>
            <a:ext cx="2022000" cy="22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Return to default</a:t>
            </a:r>
            <a:endParaRPr sz="1500">
              <a:solidFill>
                <a:schemeClr val="dk2"/>
              </a:solidFill>
            </a:endParaRPr>
          </a:p>
        </p:txBody>
      </p:sp>
      <p:sp>
        <p:nvSpPr>
          <p:cNvPr id="107" name="Google Shape;107;p15"/>
          <p:cNvSpPr txBox="1"/>
          <p:nvPr/>
        </p:nvSpPr>
        <p:spPr>
          <a:xfrm>
            <a:off x="1236575" y="9291937"/>
            <a:ext cx="6316500" cy="5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2"/>
                </a:solidFill>
              </a:rPr>
              <a:t>Total posts: </a:t>
            </a:r>
            <a:r>
              <a:rPr lang="en" sz="1600">
                <a:solidFill>
                  <a:schemeClr val="dk2"/>
                </a:solidFill>
              </a:rPr>
              <a:t> 350</a:t>
            </a:r>
            <a:endParaRPr sz="1600">
              <a:solidFill>
                <a:schemeClr val="dk2"/>
              </a:solidFill>
            </a:endParaRPr>
          </a:p>
        </p:txBody>
      </p:sp>
      <p:sp>
        <p:nvSpPr>
          <p:cNvPr id="108" name="Google Shape;108;p15"/>
          <p:cNvSpPr txBox="1"/>
          <p:nvPr/>
        </p:nvSpPr>
        <p:spPr>
          <a:xfrm>
            <a:off x="902375" y="10529768"/>
            <a:ext cx="3462300" cy="5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Selected account:</a:t>
            </a:r>
            <a:r>
              <a:rPr lang="en" sz="1800">
                <a:solidFill>
                  <a:schemeClr val="dk2"/>
                </a:solidFill>
              </a:rPr>
              <a:t> frazzledjazz</a:t>
            </a:r>
            <a:endParaRPr sz="1800">
              <a:solidFill>
                <a:schemeClr val="dk2"/>
              </a:solidFill>
            </a:endParaRPr>
          </a:p>
        </p:txBody>
      </p:sp>
      <p:sp>
        <p:nvSpPr>
          <p:cNvPr id="109" name="Google Shape;109;p15"/>
          <p:cNvSpPr txBox="1"/>
          <p:nvPr/>
        </p:nvSpPr>
        <p:spPr>
          <a:xfrm>
            <a:off x="4394226" y="10549292"/>
            <a:ext cx="3462300" cy="5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2"/>
                </a:solidFill>
              </a:rPr>
              <a:t>Total posts</a:t>
            </a:r>
            <a:r>
              <a:rPr b="1" lang="en" sz="1600">
                <a:solidFill>
                  <a:schemeClr val="dk2"/>
                </a:solidFill>
              </a:rPr>
              <a:t>:</a:t>
            </a:r>
            <a:r>
              <a:rPr lang="en" sz="1600">
                <a:solidFill>
                  <a:schemeClr val="dk2"/>
                </a:solidFill>
              </a:rPr>
              <a:t> 19 (5% of total)</a:t>
            </a:r>
            <a:endParaRPr sz="1600">
              <a:solidFill>
                <a:schemeClr val="dk2"/>
              </a:solidFill>
            </a:endParaRPr>
          </a:p>
        </p:txBody>
      </p:sp>
      <p:sp>
        <p:nvSpPr>
          <p:cNvPr id="110" name="Google Shape;110;p15"/>
          <p:cNvSpPr/>
          <p:nvPr/>
        </p:nvSpPr>
        <p:spPr>
          <a:xfrm>
            <a:off x="439428" y="10115974"/>
            <a:ext cx="2563500" cy="38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15"/>
          <p:cNvSpPr/>
          <p:nvPr/>
        </p:nvSpPr>
        <p:spPr>
          <a:xfrm rot="10800000">
            <a:off x="553614" y="10178455"/>
            <a:ext cx="251400" cy="263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15"/>
          <p:cNvSpPr txBox="1"/>
          <p:nvPr/>
        </p:nvSpPr>
        <p:spPr>
          <a:xfrm>
            <a:off x="775305" y="10095603"/>
            <a:ext cx="3002400" cy="26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Return to contributor list</a:t>
            </a:r>
            <a:endParaRPr sz="1500">
              <a:solidFill>
                <a:schemeClr val="dk2"/>
              </a:solidFill>
            </a:endParaRPr>
          </a:p>
        </p:txBody>
      </p:sp>
      <p:graphicFrame>
        <p:nvGraphicFramePr>
          <p:cNvPr id="113" name="Google Shape;113;p15"/>
          <p:cNvGraphicFramePr/>
          <p:nvPr/>
        </p:nvGraphicFramePr>
        <p:xfrm>
          <a:off x="671763" y="11020650"/>
          <a:ext cx="3000000" cy="3000000"/>
        </p:xfrm>
        <a:graphic>
          <a:graphicData uri="http://schemas.openxmlformats.org/drawingml/2006/table">
            <a:tbl>
              <a:tblPr>
                <a:noFill/>
                <a:tableStyleId>{DB0597A8-FFCC-46CA-AE32-1D73EF9ED9E4}</a:tableStyleId>
              </a:tblPr>
              <a:tblGrid>
                <a:gridCol w="724550"/>
                <a:gridCol w="4033375"/>
                <a:gridCol w="1322050"/>
                <a:gridCol w="1667050"/>
              </a:tblGrid>
              <a:tr h="57617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Post Content</a:t>
                      </a:r>
                      <a:endParaRPr/>
                    </a:p>
                  </a:txBody>
                  <a:tcPr marT="91425" marB="91425" marR="91425" marL="91425"/>
                </a:tc>
                <a:tc>
                  <a:txBody>
                    <a:bodyPr/>
                    <a:lstStyle/>
                    <a:p>
                      <a:pPr indent="0" lvl="0" marL="0" rtl="0" algn="l">
                        <a:spcBef>
                          <a:spcPts val="0"/>
                        </a:spcBef>
                        <a:spcAft>
                          <a:spcPts val="0"/>
                        </a:spcAft>
                        <a:buNone/>
                      </a:pPr>
                      <a:r>
                        <a:rPr lang="en"/>
                        <a:t>Unique Post Number</a:t>
                      </a:r>
                      <a:endParaRPr/>
                    </a:p>
                  </a:txBody>
                  <a:tcPr marT="91425" marB="91425" marR="91425" marL="91425"/>
                </a:tc>
                <a:tc>
                  <a:txBody>
                    <a:bodyPr/>
                    <a:lstStyle/>
                    <a:p>
                      <a:pPr indent="0" lvl="0" marL="0" rtl="0" algn="l">
                        <a:spcBef>
                          <a:spcPts val="0"/>
                        </a:spcBef>
                        <a:spcAft>
                          <a:spcPts val="0"/>
                        </a:spcAft>
                        <a:buNone/>
                      </a:pPr>
                      <a:r>
                        <a:rPr lang="en"/>
                        <a:t>Timestamp</a:t>
                      </a:r>
                      <a:endParaRPr/>
                    </a:p>
                  </a:txBody>
                  <a:tcPr marT="91425" marB="91425" marR="91425" marL="91425"/>
                </a:tc>
              </a:tr>
              <a:tr h="374500">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Call for rebellion! It’s that time</a:t>
                      </a:r>
                      <a:endParaRPr/>
                    </a:p>
                  </a:txBody>
                  <a:tcPr marT="91425" marB="91425" marR="91425" marL="91425"/>
                </a:tc>
                <a:tc>
                  <a:txBody>
                    <a:bodyPr/>
                    <a:lstStyle/>
                    <a:p>
                      <a:pPr indent="0" lvl="0" marL="0" rtl="0" algn="l">
                        <a:spcBef>
                          <a:spcPts val="0"/>
                        </a:spcBef>
                        <a:spcAft>
                          <a:spcPts val="0"/>
                        </a:spcAft>
                        <a:buNone/>
                      </a:pPr>
                      <a:r>
                        <a:rPr lang="en"/>
                        <a:t>0139395</a:t>
                      </a:r>
                      <a:endParaRPr/>
                    </a:p>
                  </a:txBody>
                  <a:tcPr marT="91425" marB="91425" marR="91425" marL="91425"/>
                </a:tc>
                <a:tc>
                  <a:txBody>
                    <a:bodyPr/>
                    <a:lstStyle/>
                    <a:p>
                      <a:pPr indent="0" lvl="0" marL="0" rtl="0" algn="l">
                        <a:spcBef>
                          <a:spcPts val="0"/>
                        </a:spcBef>
                        <a:spcAft>
                          <a:spcPts val="0"/>
                        </a:spcAft>
                        <a:buNone/>
                      </a:pPr>
                      <a:r>
                        <a:rPr lang="en"/>
                        <a:t>1/29/2025 06:24</a:t>
                      </a:r>
                      <a:endParaRPr/>
                    </a:p>
                  </a:txBody>
                  <a:tcPr marT="91425" marB="91425" marR="91425" marL="91425"/>
                </a:tc>
              </a:tr>
              <a:tr h="374500">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None/>
                      </a:pPr>
                      <a:r>
                        <a:rPr lang="en"/>
                        <a:t>I say we revolt - let’s do it!</a:t>
                      </a:r>
                      <a:endParaRPr/>
                    </a:p>
                  </a:txBody>
                  <a:tcPr marT="91425" marB="91425" marR="91425" marL="91425"/>
                </a:tc>
                <a:tc>
                  <a:txBody>
                    <a:bodyPr/>
                    <a:lstStyle/>
                    <a:p>
                      <a:pPr indent="0" lvl="0" marL="0" rtl="0" algn="l">
                        <a:spcBef>
                          <a:spcPts val="0"/>
                        </a:spcBef>
                        <a:spcAft>
                          <a:spcPts val="0"/>
                        </a:spcAft>
                        <a:buNone/>
                      </a:pPr>
                      <a:r>
                        <a:rPr lang="en"/>
                        <a:t>2023525</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1/29/2025 06:31</a:t>
                      </a:r>
                      <a:endParaRPr>
                        <a:solidFill>
                          <a:schemeClr val="dk1"/>
                        </a:solidFill>
                      </a:endParaRPr>
                    </a:p>
                  </a:txBody>
                  <a:tcPr marT="91425" marB="91425" marR="91425" marL="91425"/>
                </a:tc>
              </a:tr>
              <a:tr h="374500">
                <a:tc>
                  <a:txBody>
                    <a:bodyPr/>
                    <a:lstStyle/>
                    <a:p>
                      <a:pPr indent="0" lvl="0" marL="0" rtl="0" algn="l">
                        <a:spcBef>
                          <a:spcPts val="0"/>
                        </a:spcBef>
                        <a:spcAft>
                          <a:spcPts val="0"/>
                        </a:spcAft>
                        <a:buNone/>
                      </a:pPr>
                      <a:r>
                        <a:rPr lang="en"/>
                        <a:t>3</a:t>
                      </a:r>
                      <a:endParaRPr/>
                    </a:p>
                  </a:txBody>
                  <a:tcPr marT="91425" marB="91425" marR="91425" marL="91425"/>
                </a:tc>
                <a:tc>
                  <a:txBody>
                    <a:bodyPr/>
                    <a:lstStyle/>
                    <a:p>
                      <a:pPr indent="0" lvl="0" marL="0" rtl="0" algn="l">
                        <a:spcBef>
                          <a:spcPts val="0"/>
                        </a:spcBef>
                        <a:spcAft>
                          <a:spcPts val="0"/>
                        </a:spcAft>
                        <a:buNone/>
                      </a:pPr>
                      <a:r>
                        <a:rPr lang="en"/>
                        <a:t>Can you </a:t>
                      </a:r>
                      <a:r>
                        <a:rPr lang="en"/>
                        <a:t>hear the bells fernando? </a:t>
                      </a:r>
                      <a:endParaRPr/>
                    </a:p>
                  </a:txBody>
                  <a:tcPr marT="91425" marB="91425" marR="91425" marL="91425"/>
                </a:tc>
                <a:tc>
                  <a:txBody>
                    <a:bodyPr/>
                    <a:lstStyle/>
                    <a:p>
                      <a:pPr indent="0" lvl="0" marL="0" rtl="0" algn="l">
                        <a:spcBef>
                          <a:spcPts val="0"/>
                        </a:spcBef>
                        <a:spcAft>
                          <a:spcPts val="0"/>
                        </a:spcAft>
                        <a:buNone/>
                      </a:pPr>
                      <a:r>
                        <a:rPr lang="en"/>
                        <a:t>2595252</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1/29/2025 06:45</a:t>
                      </a:r>
                      <a:endParaRPr/>
                    </a:p>
                  </a:txBody>
                  <a:tcPr marT="91425" marB="91425" marR="91425" marL="91425"/>
                </a:tc>
              </a:tr>
              <a:tr h="374500">
                <a:tc>
                  <a:txBody>
                    <a:bodyPr/>
                    <a:lstStyle/>
                    <a:p>
                      <a:pPr indent="0" lvl="0" marL="0" rtl="0" algn="l">
                        <a:spcBef>
                          <a:spcPts val="0"/>
                        </a:spcBef>
                        <a:spcAft>
                          <a:spcPts val="0"/>
                        </a:spcAft>
                        <a:buNone/>
                      </a:pPr>
                      <a:r>
                        <a:rPr lang="en"/>
                        <a:t>4</a:t>
                      </a:r>
                      <a:endParaRPr/>
                    </a:p>
                  </a:txBody>
                  <a:tcPr marT="91425" marB="91425" marR="91425" marL="91425"/>
                </a:tc>
                <a:tc>
                  <a:txBody>
                    <a:bodyPr/>
                    <a:lstStyle/>
                    <a:p>
                      <a:pPr indent="0" lvl="0" marL="0" rtl="0" algn="l">
                        <a:spcBef>
                          <a:spcPts val="0"/>
                        </a:spcBef>
                        <a:spcAft>
                          <a:spcPts val="0"/>
                        </a:spcAft>
                        <a:buNone/>
                      </a:pPr>
                      <a:r>
                        <a:rPr lang="en"/>
                        <a:t>Ring the bells - we rise up now!</a:t>
                      </a:r>
                      <a:endParaRPr/>
                    </a:p>
                  </a:txBody>
                  <a:tcPr marT="91425" marB="91425" marR="91425" marL="91425"/>
                </a:tc>
                <a:tc>
                  <a:txBody>
                    <a:bodyPr/>
                    <a:lstStyle/>
                    <a:p>
                      <a:pPr indent="0" lvl="0" marL="0" rtl="0" algn="l">
                        <a:spcBef>
                          <a:spcPts val="0"/>
                        </a:spcBef>
                        <a:spcAft>
                          <a:spcPts val="0"/>
                        </a:spcAft>
                        <a:buNone/>
                      </a:pPr>
                      <a:r>
                        <a:rPr lang="en"/>
                        <a:t>3528821</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1/29/2025 06:56</a:t>
                      </a:r>
                      <a:endParaRPr/>
                    </a:p>
                  </a:txBody>
                  <a:tcPr marT="91425" marB="91425" marR="91425" marL="91425"/>
                </a:tc>
              </a:tr>
              <a:tr h="374500">
                <a:tc>
                  <a:txBody>
                    <a:bodyPr/>
                    <a:lstStyle/>
                    <a:p>
                      <a:pPr indent="0" lvl="0" marL="0" rtl="0" algn="l">
                        <a:spcBef>
                          <a:spcPts val="0"/>
                        </a:spcBef>
                        <a:spcAft>
                          <a:spcPts val="0"/>
                        </a:spcAft>
                        <a:buNone/>
                      </a:pPr>
                      <a:r>
                        <a:rPr lang="en"/>
                        <a:t>5</a:t>
                      </a:r>
                      <a:endParaRPr/>
                    </a:p>
                  </a:txBody>
                  <a:tcPr marT="91425" marB="91425" marR="91425" marL="91425"/>
                </a:tc>
                <a:tc>
                  <a:txBody>
                    <a:bodyPr/>
                    <a:lstStyle/>
                    <a:p>
                      <a:pPr indent="0" lvl="0" marL="0" rtl="0" algn="l">
                        <a:spcBef>
                          <a:spcPts val="0"/>
                        </a:spcBef>
                        <a:spcAft>
                          <a:spcPts val="0"/>
                        </a:spcAft>
                        <a:buNone/>
                      </a:pPr>
                      <a:r>
                        <a:rPr lang="en"/>
                        <a:t>Nothing can stop us now!</a:t>
                      </a:r>
                      <a:endParaRPr/>
                    </a:p>
                  </a:txBody>
                  <a:tcPr marT="91425" marB="91425" marR="91425" marL="91425"/>
                </a:tc>
                <a:tc>
                  <a:txBody>
                    <a:bodyPr/>
                    <a:lstStyle/>
                    <a:p>
                      <a:pPr indent="0" lvl="0" marL="0" rtl="0" algn="l">
                        <a:spcBef>
                          <a:spcPts val="0"/>
                        </a:spcBef>
                        <a:spcAft>
                          <a:spcPts val="0"/>
                        </a:spcAft>
                        <a:buNone/>
                      </a:pPr>
                      <a:r>
                        <a:rPr lang="en"/>
                        <a:t>2352522</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1/29/2025 07:01</a:t>
                      </a:r>
                      <a:endParaRPr/>
                    </a:p>
                  </a:txBody>
                  <a:tcPr marT="91425" marB="91425" marR="91425" marL="91425"/>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