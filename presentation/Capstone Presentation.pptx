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Nunito"/>
      <p:regular r:id="rId17"/>
      <p:bold r:id="rId18"/>
      <p:italic r:id="rId19"/>
      <p:boldItalic r:id="rId20"/>
    </p:embeddedFont>
    <p:embeddedFont>
      <p:font typeface="Maven Pro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22" Type="http://schemas.openxmlformats.org/officeDocument/2006/relationships/font" Target="fonts/MavenPro-bold.fntdata"/><Relationship Id="rId10" Type="http://schemas.openxmlformats.org/officeDocument/2006/relationships/slide" Target="slides/slide5.xml"/><Relationship Id="rId21" Type="http://schemas.openxmlformats.org/officeDocument/2006/relationships/font" Target="fonts/MavenPro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italic.fntdata"/><Relationship Id="rId6" Type="http://schemas.openxmlformats.org/officeDocument/2006/relationships/slide" Target="slides/slide1.xml"/><Relationship Id="rId18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9147defbd3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9147defbd3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9147defbd3_0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9147defbd3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9147defbd3_0_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9147defbd3_0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9147defbd3_0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9147defbd3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9147defbd3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9147defbd3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9147defbd3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9147defbd3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9147defbd3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9147defbd3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9147defbd3_0_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9147defbd3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9147defbd3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9147defbd3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9147defbd3_0_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9147defbd3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311700" y="1069150"/>
            <a:ext cx="8520600" cy="104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CIB Mango Tree</a:t>
            </a:r>
            <a:endParaRPr sz="5000"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311700" y="2175450"/>
            <a:ext cx="85206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DETECTING COORDINATED BEHAVIOR ON SOCIAL MEDIA</a:t>
            </a:r>
            <a:endParaRPr/>
          </a:p>
        </p:txBody>
      </p:sp>
      <p:sp>
        <p:nvSpPr>
          <p:cNvPr id="279" name="Google Shape;279;p13"/>
          <p:cNvSpPr txBox="1"/>
          <p:nvPr>
            <p:ph idx="1" type="subTitle"/>
          </p:nvPr>
        </p:nvSpPr>
        <p:spPr>
          <a:xfrm>
            <a:off x="311700" y="27612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080"/>
              <a:t>Long Hai Huynh</a:t>
            </a:r>
            <a:endParaRPr b="1" sz="108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rPr lang="en" sz="1080"/>
              <a:t>The George Washington University</a:t>
            </a:r>
            <a:endParaRPr sz="108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SzPts val="605"/>
              <a:buNone/>
            </a:pPr>
            <a:r>
              <a:rPr lang="en" sz="1080"/>
              <a:t>Capstone Project - Fall 2025</a:t>
            </a:r>
            <a:endParaRPr sz="108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“Black Box” Problem</a:t>
            </a:r>
            <a:endParaRPr/>
          </a:p>
        </p:txBody>
      </p:sp>
      <p:sp>
        <p:nvSpPr>
          <p:cNvPr id="285" name="Google Shape;285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Threat: Coordinated Inauthentic Behavior (CIB) is scaling rapidly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Blind Spot: We lack “Ground Truth” labels. We don’t know who the bad actors are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SzPts val="1300"/>
              <a:buChar char="●"/>
            </a:pPr>
            <a:r>
              <a:rPr lang="en"/>
              <a:t>The Question: Without labels, how do we scientifically distinguish a </a:t>
            </a:r>
            <a:r>
              <a:rPr b="1" lang="en">
                <a:solidFill>
                  <a:srgbClr val="45818E"/>
                </a:solidFill>
              </a:rPr>
              <a:t>coordinated attack</a:t>
            </a:r>
            <a:r>
              <a:rPr lang="en"/>
              <a:t> from organic trend?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Methodology</a:t>
            </a:r>
            <a:endParaRPr/>
          </a:p>
        </p:txBody>
      </p:sp>
      <p:sp>
        <p:nvSpPr>
          <p:cNvPr id="291" name="Google Shape;291;p1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4-stage pipeline built on 47,403 Truth Social posts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2" name="Google Shape;29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2013" y="2503476"/>
            <a:ext cx="6499975" cy="163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Burst Detection</a:t>
            </a:r>
            <a:endParaRPr/>
          </a:p>
        </p:txBody>
      </p:sp>
      <p:sp>
        <p:nvSpPr>
          <p:cNvPr id="298" name="Google Shape;298;p16"/>
          <p:cNvSpPr txBox="1"/>
          <p:nvPr>
            <p:ph idx="1" type="body"/>
          </p:nvPr>
        </p:nvSpPr>
        <p:spPr>
          <a:xfrm>
            <a:off x="1303800" y="1990050"/>
            <a:ext cx="32682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Kleinberg’s Algorithm: Identifies time windows where activity spikes above baseline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Core Idea: Contributor Selection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1000"/>
              </a:spcAft>
              <a:buSzPts val="1300"/>
              <a:buChar char="●"/>
            </a:pPr>
            <a:r>
              <a:rPr lang="en"/>
              <a:t>The Result: we filtered out casual users, reducing noise from thousands of users to just active few hundred participants in bursts.</a:t>
            </a:r>
            <a:endParaRPr/>
          </a:p>
        </p:txBody>
      </p:sp>
      <p:pic>
        <p:nvPicPr>
          <p:cNvPr id="299" name="Google Shape;2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750275"/>
            <a:ext cx="3901798" cy="278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Coordination Analysis</a:t>
            </a:r>
            <a:endParaRPr/>
          </a:p>
        </p:txBody>
      </p:sp>
      <p:sp>
        <p:nvSpPr>
          <p:cNvPr id="305" name="Google Shape;305;p17"/>
          <p:cNvSpPr txBox="1"/>
          <p:nvPr>
            <p:ph idx="1" type="body"/>
          </p:nvPr>
        </p:nvSpPr>
        <p:spPr>
          <a:xfrm>
            <a:off x="1303800" y="2345925"/>
            <a:ext cx="3268200" cy="21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5818E"/>
                </a:solidFill>
              </a:rPr>
              <a:t>Phase 1-4 (Accepted):</a:t>
            </a:r>
            <a:endParaRPr b="1">
              <a:solidFill>
                <a:srgbClr val="45818E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✔ Content Similarity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✔ </a:t>
            </a:r>
            <a:r>
              <a:rPr lang="en"/>
              <a:t>Hashtag Coordination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✔ </a:t>
            </a:r>
            <a:r>
              <a:rPr lang="en"/>
              <a:t>URL Sharing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✔ </a:t>
            </a:r>
            <a:r>
              <a:rPr lang="en"/>
              <a:t>Retweet Amplification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✔ </a:t>
            </a:r>
            <a:r>
              <a:rPr lang="en"/>
              <a:t>Temporal Synchronization</a:t>
            </a:r>
            <a:endParaRPr/>
          </a:p>
        </p:txBody>
      </p:sp>
      <p:sp>
        <p:nvSpPr>
          <p:cNvPr id="306" name="Google Shape;306;p17"/>
          <p:cNvSpPr txBox="1"/>
          <p:nvPr>
            <p:ph idx="1" type="body"/>
          </p:nvPr>
        </p:nvSpPr>
        <p:spPr>
          <a:xfrm>
            <a:off x="5066100" y="2345850"/>
            <a:ext cx="3268200" cy="21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CC4125"/>
                </a:solidFill>
              </a:rPr>
              <a:t>Phase 5 (Rejected):</a:t>
            </a:r>
            <a:endParaRPr b="1">
              <a:solidFill>
                <a:srgbClr val="CC412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Signal: “Mechanical Posting”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Result: Double detection (+105%) but introduced </a:t>
            </a:r>
            <a:r>
              <a:rPr lang="en">
                <a:solidFill>
                  <a:srgbClr val="CC4125"/>
                </a:solidFill>
              </a:rPr>
              <a:t>False Positives</a:t>
            </a:r>
            <a:r>
              <a:rPr lang="en"/>
              <a:t> due to timezone, behavioral coincident. </a:t>
            </a:r>
            <a:endParaRPr/>
          </a:p>
        </p:txBody>
      </p:sp>
      <p:sp>
        <p:nvSpPr>
          <p:cNvPr id="307" name="Google Shape;307;p17"/>
          <p:cNvSpPr txBox="1"/>
          <p:nvPr>
            <p:ph idx="1" type="body"/>
          </p:nvPr>
        </p:nvSpPr>
        <p:spPr>
          <a:xfrm>
            <a:off x="1303800" y="1649400"/>
            <a:ext cx="70305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 tested 5 signals in a “Phase Additive” framework: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Findings: Signal Hierarchy</a:t>
            </a:r>
            <a:endParaRPr/>
          </a:p>
        </p:txBody>
      </p:sp>
      <p:sp>
        <p:nvSpPr>
          <p:cNvPr id="313" name="Google Shape;313;p18"/>
          <p:cNvSpPr txBox="1"/>
          <p:nvPr>
            <p:ph idx="1" type="body"/>
          </p:nvPr>
        </p:nvSpPr>
        <p:spPr>
          <a:xfrm>
            <a:off x="4572000" y="1990050"/>
            <a:ext cx="37623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CC4125"/>
                </a:solidFill>
              </a:rPr>
              <a:t>Retweets (96.1%):</a:t>
            </a:r>
            <a:r>
              <a:rPr lang="en"/>
              <a:t> The “smoking gun.” The primary mechanism of coordination.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3C78D8"/>
                </a:solidFill>
              </a:rPr>
              <a:t>Content signals (~1.3%): </a:t>
            </a:r>
            <a:r>
              <a:rPr lang="en"/>
              <a:t>Surprisingly low impact. Coordinated actors rarely copy and paste text exactly </a:t>
            </a:r>
            <a:endParaRPr/>
          </a:p>
        </p:txBody>
      </p:sp>
      <p:pic>
        <p:nvPicPr>
          <p:cNvPr id="314" name="Google Shape;31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200" y="1990050"/>
            <a:ext cx="3948475" cy="2369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pairs to Networks</a:t>
            </a:r>
            <a:endParaRPr/>
          </a:p>
        </p:txBody>
      </p:sp>
      <p:sp>
        <p:nvSpPr>
          <p:cNvPr id="320" name="Google Shape;320;p19"/>
          <p:cNvSpPr txBox="1"/>
          <p:nvPr>
            <p:ph idx="1" type="body"/>
          </p:nvPr>
        </p:nvSpPr>
        <p:spPr>
          <a:xfrm>
            <a:off x="4572000" y="1990050"/>
            <a:ext cx="34251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Input: </a:t>
            </a:r>
            <a:r>
              <a:rPr lang="en"/>
              <a:t>1,110 Coordination Paris detected.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The Logic:</a:t>
            </a:r>
            <a:r>
              <a:rPr lang="en"/>
              <a:t> Pairs become Weighted Edges in NetworkX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Edge Weight:</a:t>
            </a:r>
            <a:r>
              <a:rPr lang="en"/>
              <a:t> Maximum Confidence score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Result:</a:t>
            </a:r>
            <a:r>
              <a:rPr lang="en"/>
              <a:t> Collapsed </a:t>
            </a:r>
            <a:r>
              <a:rPr lang="en"/>
              <a:t>pairs into 20 distinct Connected Networks</a:t>
            </a:r>
            <a:endParaRPr/>
          </a:p>
        </p:txBody>
      </p:sp>
      <p:pic>
        <p:nvPicPr>
          <p:cNvPr id="321" name="Google Shape;3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800" y="2129275"/>
            <a:ext cx="2579276" cy="2402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Alternative: Temporal Clustering</a:t>
            </a:r>
            <a:endParaRPr/>
          </a:p>
        </p:txBody>
      </p:sp>
      <p:sp>
        <p:nvSpPr>
          <p:cNvPr id="327" name="Google Shape;327;p20"/>
          <p:cNvSpPr txBox="1"/>
          <p:nvPr>
            <p:ph idx="1" type="body"/>
          </p:nvPr>
        </p:nvSpPr>
        <p:spPr>
          <a:xfrm>
            <a:off x="1303800" y="1990050"/>
            <a:ext cx="33276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Do bots share “Temporal Personas”?</a:t>
            </a:r>
            <a:endParaRPr b="1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Method: </a:t>
            </a:r>
            <a:r>
              <a:rPr lang="en"/>
              <a:t>K-Means Clustering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Result:</a:t>
            </a:r>
            <a:r>
              <a:rPr lang="en"/>
              <a:t> found 4 behaviors</a:t>
            </a:r>
            <a:endParaRPr sz="1050">
              <a:solidFill>
                <a:srgbClr val="81C995"/>
              </a:solidFill>
              <a:highlight>
                <a:srgbClr val="1E1F2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1000"/>
              </a:spcAft>
              <a:buSzPts val="1300"/>
              <a:buChar char="●"/>
            </a:pPr>
            <a:r>
              <a:rPr b="1" lang="en"/>
              <a:t>Limitation:</a:t>
            </a:r>
            <a:r>
              <a:rPr lang="en"/>
              <a:t> Without original timezone metadata (UTC issue), we cannot verify if this is coordination</a:t>
            </a:r>
            <a:endParaRPr/>
          </a:p>
        </p:txBody>
      </p:sp>
      <p:pic>
        <p:nvPicPr>
          <p:cNvPr id="328" name="Google Shape;3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3800" y="1750275"/>
            <a:ext cx="3757799" cy="268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Analysis</a:t>
            </a:r>
            <a:endParaRPr/>
          </a:p>
        </p:txBody>
      </p:sp>
      <p:sp>
        <p:nvSpPr>
          <p:cNvPr id="334" name="Google Shape;334;p21"/>
          <p:cNvSpPr txBox="1"/>
          <p:nvPr>
            <p:ph idx="1" type="body"/>
          </p:nvPr>
        </p:nvSpPr>
        <p:spPr>
          <a:xfrm>
            <a:off x="1303800" y="1990050"/>
            <a:ext cx="31194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detected 20 networks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Network 1 is (153 accounts) is dominant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Conclusion: </a:t>
            </a:r>
            <a:r>
              <a:rPr lang="en"/>
              <a:t>organized</a:t>
            </a:r>
            <a:r>
              <a:rPr lang="en"/>
              <a:t> sub-communities, not a random botnet</a:t>
            </a:r>
            <a:endParaRPr/>
          </a:p>
        </p:txBody>
      </p:sp>
      <p:pic>
        <p:nvPicPr>
          <p:cNvPr id="335" name="Google Shape;3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5600" y="1750275"/>
            <a:ext cx="3709201" cy="2365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Dashboard</a:t>
            </a:r>
            <a:endParaRPr/>
          </a:p>
        </p:txBody>
      </p:sp>
      <p:sp>
        <p:nvSpPr>
          <p:cNvPr id="341" name="Google Shape;341;p2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347" name="Google Shape;347;p23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Retweets are King:</a:t>
            </a:r>
            <a:r>
              <a:rPr lang="en"/>
              <a:t> Retweet amplification accounts for 96.1% of detections. Complex content analysis adds minimal value.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Rigor over Quantity:</a:t>
            </a:r>
            <a:r>
              <a:rPr lang="en"/>
              <a:t> We rejected behavioral patterns (Phase 5) because precision matters more than high </a:t>
            </a:r>
            <a:r>
              <a:rPr lang="en"/>
              <a:t>detection</a:t>
            </a:r>
            <a:r>
              <a:rPr lang="en"/>
              <a:t> counts.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Coordination is not random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